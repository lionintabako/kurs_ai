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randstander Bold"/>
      <p:regular r:id="rId201314"/>
    </p:embeddedFont>
    <p:embeddedFont>
      <p:font typeface="Grandstander ExtraBold"/>
      <p:regular r:id="rId201315"/>
    </p:embeddedFont>
    <p:embeddedFont>
      <p:font typeface="Lexend"/>
      <p:regular r:id="rId201316"/>
    </p:embeddedFont>
    <p:embeddedFont>
      <p:font typeface="Lexend Medium"/>
      <p:regular r:id="rId201317"/>
    </p:embeddedFont>
    <p:embeddedFont>
      <p:font typeface="Lexend SemiBold"/>
      <p:regular r:id="rId201318"/>
    </p:embeddedFont>
    <p:embeddedFont>
      <p:font typeface="Lexend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Cześć wszystkim! Dzisiaj przekonacie się, że tworzenie własnych maszyn i wynalazków nie wymaga doktoratu. Każdy działający projekt zaczyna się od prostego pytania: jak sprawić, by rzecz zareagowała na świat?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Zadaj pytanie publiczności: co chcielibyście zautomatyzować w domu? Samoczynne podlewanie kwiatka, lampkę gasnącą po zaśnięciu, a może budzik uciekający z szafki? Zbierz 2-3 pomysły z sali.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Podkreśl, czym jest Arduino: to otwarty standard, który połączył świat kodu z fizycznymi przedmiotami. Płytka jest tania, bezpieczna i dostępna dla każdego, kto chce eksperymentować.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Przejdź przez trzy etapy: Wejście (zmysły), Decyzja (mózg) i Wyjście (mięśnie). Każdy system automatyki, od pralki po łazik marsjański, działa w oparciu o ten sam schemat.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Poproś ochotnika o wskazanie elementu, który myśli (mikrokontroler). Wytłumacz krótko piny jako gniazdka do podłączania kabli oraz USB jako port do przesyłania instrukcji.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moment przełomowy dla początkujących: zmiana jednej cyfry w komputerze sprawia, że fizyczny przedmiot na biurku zaczyna mrugać szybciej. Pokaż, że kod nie jest abstrakcją.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Wyjaśnij pojęcie czujnika jako elektronicznego zmysłu. Porównaj fotorezystor do oka, czujnik ultradźwiękowy do echolokacji nietoperza, a termometr do zmysłu dotyku.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Wytłumacz pętlę programu (void loop). Mikrokontroler nie męczy się sprawdzaniem warunków: wykonuje tysiące obiegów pętli na sekundę, czekając na sygnał od użytkownika.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Pokaż, że proste klocki składają się na imponujące maszyny. Spytaj uczestników: który z tych czterech projektów chcielibyście postawić na własnej półce?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Podsumuj warsztaty motywującym akcentem: najlepsi inżynierowie na świecie popełniają błędy każdego dnia. Konstruowanie to sztuka cierpliwego sprawdzania połączeń i radość z momentu, gdy układ wreszcie zadziała.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DDEFF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06400"/>
            <a:ext cx="4876678" cy="645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263" y="706100"/>
            <a:ext cx="209227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16" kern="100" dirty="0">
                <a:solidFill>
                  <a:srgbClr val="231F4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Krok po kroku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263" y="1611114"/>
            <a:ext cx="6095848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spc="-30" kern="100" dirty="0">
                <a:solidFill>
                  <a:srgbClr val="231F4F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Od zwykłego problemu do pierwszego prototypu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263" y="2620923"/>
            <a:ext cx="6095848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3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Zauważasz codzienny kłopot, wymyślasz prostą regułę, łączysz kilka kabelków i sprawdzasz działanie na żywo.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263" y="4043462"/>
            <a:ext cx="6095848" cy="1609725"/>
          </a:xfrm>
          <a:prstGeom prst="roundRect">
            <a:avLst>
              <a:gd name="adj" fmla="val 22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62230" dir="5400000">
              <a:srgbClr val="231f4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40256" y="4259362"/>
            <a:ext cx="55878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Pytanie do sali: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740256" y="4745137"/>
            <a:ext cx="558786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 w Waszym pokoju lub szkole powinno dziać się automatycznie?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756922" cy="406301"/>
          </a:xfrm>
          <a:prstGeom prst="roundRect">
            <a:avLst>
              <a:gd name="adj" fmla="val 49999"/>
            </a:avLst>
          </a:prstGeom>
          <a:solidFill>
            <a:srgbClr val="FDD6CE"/>
          </a:solidFill>
          <a:ln/>
        </p:spPr>
      </p:sp>
      <p:sp>
        <p:nvSpPr>
          <p:cNvPr id="3" name="Text 1"/>
          <p:cNvSpPr/>
          <p:nvPr/>
        </p:nvSpPr>
        <p:spPr>
          <a:xfrm>
            <a:off x="802560" y="706100"/>
            <a:ext cx="298055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16" kern="100" dirty="0">
                <a:solidFill>
                  <a:srgbClr val="231F4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Platforma dla każdego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585" y="1107976"/>
            <a:ext cx="5912992" cy="1088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spc="-42" kern="100" dirty="0">
                <a:solidFill>
                  <a:srgbClr val="231F4F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Arduino to mały mózg dla dużych pomysłów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09585" y="2421434"/>
            <a:ext cx="5912992" cy="183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06400" indent="-406400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Arduino to otwarta platforma elektroniki i oprogramowania, która ułatwia budowanie własnych urządzeń.</a:t>
            </a:r>
            <a:endParaRPr lang="en-US" sz="2000" dirty="0"/>
          </a:p>
          <a:p>
            <a:pPr algn="l" marL="406400" indent="-406400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Płytka odczytuje sygnały, podejmuje decyzję według programu i uruchamia reakcję.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36855" y="0"/>
            <a:ext cx="4754840" cy="6858000"/>
          </a:xfrm>
          <a:prstGeom prst="rect">
            <a:avLst/>
          </a:prstGeom>
          <a:solidFill>
            <a:srgbClr val="FFF0C4"/>
          </a:solidFill>
          <a:ln/>
        </p:spPr>
      </p:sp>
      <p:sp>
        <p:nvSpPr>
          <p:cNvPr id="7" name="Shape 5"/>
          <p:cNvSpPr/>
          <p:nvPr/>
        </p:nvSpPr>
        <p:spPr>
          <a:xfrm>
            <a:off x="7436855" y="0"/>
            <a:ext cx="4754840" cy="718741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690848" y="177800"/>
            <a:ext cx="424685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231F4F"/>
                </a:solidFill>
                <a:latin typeface="Grandstander Bold" pitchFamily="34" charset="0"/>
                <a:ea typeface="Grandstander Bold" pitchFamily="34" charset="-122"/>
                <a:cs typeface="Grandstander Bold" pitchFamily="34" charset="-120"/>
              </a:rPr>
              <a:t>Myśli, liczy i steruje!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49179" y="693341"/>
            <a:ext cx="330192" cy="20310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855" y="921941"/>
            <a:ext cx="3555911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spc="-30" kern="100" dirty="0">
                <a:solidFill>
                  <a:srgbClr val="231F4F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Każdy projekt działa według prostego schematu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230868"/>
            <a:ext cx="11582110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3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To ten sam sposób myślenia, który łączy elektronikę z programowaniem.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09585" y="2768302"/>
            <a:ext cx="3657509" cy="1016000"/>
          </a:xfrm>
          <a:prstGeom prst="rect">
            <a:avLst/>
          </a:prstGeom>
          <a:solidFill>
            <a:srgbClr val="DF6850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768302"/>
            <a:ext cx="3657509" cy="1016000"/>
          </a:xfrm>
          <a:prstGeom prst="rect">
            <a:avLst/>
          </a:prstGeom>
          <a:solidFill>
            <a:srgbClr val="F9826A"/>
          </a:solidFill>
          <a:ln/>
        </p:spPr>
      </p:sp>
      <p:sp>
        <p:nvSpPr>
          <p:cNvPr id="6" name="Text 4"/>
          <p:cNvSpPr/>
          <p:nvPr/>
        </p:nvSpPr>
        <p:spPr>
          <a:xfrm>
            <a:off x="1947417" y="3169603"/>
            <a:ext cx="159142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16" kern="100" dirty="0">
                <a:solidFill>
                  <a:srgbClr val="231F4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WEJŚCIE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3890347"/>
            <a:ext cx="365750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Odbiór sygnału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9585" y="4407793"/>
            <a:ext cx="3657509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Światło, przycisk, odległość lub temperatura.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67093" y="2768302"/>
            <a:ext cx="3657509" cy="1016000"/>
          </a:xfrm>
          <a:prstGeom prst="rect">
            <a:avLst/>
          </a:prstGeom>
          <a:solidFill>
            <a:srgbClr val="DF6850"/>
          </a:solidFill>
          <a:ln/>
        </p:spPr>
      </p:sp>
      <p:sp>
        <p:nvSpPr>
          <p:cNvPr id="10" name="Shape 8"/>
          <p:cNvSpPr/>
          <p:nvPr/>
        </p:nvSpPr>
        <p:spPr>
          <a:xfrm>
            <a:off x="4267093" y="2768302"/>
            <a:ext cx="3657509" cy="1016000"/>
          </a:xfrm>
          <a:prstGeom prst="rect">
            <a:avLst/>
          </a:prstGeom>
          <a:solidFill>
            <a:srgbClr val="F9826A"/>
          </a:solidFill>
          <a:ln/>
        </p:spPr>
      </p:sp>
      <p:sp>
        <p:nvSpPr>
          <p:cNvPr id="11" name="Text 9"/>
          <p:cNvSpPr/>
          <p:nvPr/>
        </p:nvSpPr>
        <p:spPr>
          <a:xfrm>
            <a:off x="5609092" y="3169603"/>
            <a:ext cx="158309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16" kern="100" dirty="0">
                <a:solidFill>
                  <a:srgbClr val="231F4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DECYZJA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67093" y="3890347"/>
            <a:ext cx="365750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Program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67093" y="4407793"/>
            <a:ext cx="3657509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Mówi, co ma się wydarzyć.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24602" y="2768302"/>
            <a:ext cx="3657509" cy="1016000"/>
          </a:xfrm>
          <a:prstGeom prst="rect">
            <a:avLst/>
          </a:prstGeom>
          <a:solidFill>
            <a:srgbClr val="DF6850"/>
          </a:solidFill>
          <a:ln/>
        </p:spPr>
      </p:sp>
      <p:sp>
        <p:nvSpPr>
          <p:cNvPr id="15" name="Shape 13"/>
          <p:cNvSpPr/>
          <p:nvPr/>
        </p:nvSpPr>
        <p:spPr>
          <a:xfrm>
            <a:off x="7924602" y="2768302"/>
            <a:ext cx="3657509" cy="1016000"/>
          </a:xfrm>
          <a:prstGeom prst="rect">
            <a:avLst/>
          </a:prstGeom>
          <a:solidFill>
            <a:srgbClr val="F9826A"/>
          </a:solidFill>
          <a:ln/>
        </p:spPr>
      </p:sp>
      <p:sp>
        <p:nvSpPr>
          <p:cNvPr id="16" name="Text 14"/>
          <p:cNvSpPr/>
          <p:nvPr/>
        </p:nvSpPr>
        <p:spPr>
          <a:xfrm>
            <a:off x="9269081" y="3169603"/>
            <a:ext cx="157803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16" kern="100" dirty="0">
                <a:solidFill>
                  <a:srgbClr val="231F4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WYJŚCIE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24602" y="3890347"/>
            <a:ext cx="365750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Działanie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24602" y="4407793"/>
            <a:ext cx="3657509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Dioda, dźwięk, silnik lub wiadomość.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251119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spc="-30" kern="100" dirty="0">
                <a:solidFill>
                  <a:srgbClr val="231F4F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Co znajduje się na płytce?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618456"/>
            <a:ext cx="325111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Trzy najważniejsze strefy, które sprawiają, że płytka ożywa na Twoim biurku.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2882106"/>
            <a:ext cx="3251119" cy="2270125"/>
          </a:xfrm>
          <a:prstGeom prst="roundRect">
            <a:avLst>
              <a:gd name="adj" fmla="val 16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62230" dir="5400000">
              <a:srgbClr val="231f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2780" y="3072606"/>
            <a:ext cx="284472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Zagadka dla sali: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80" y="3558381"/>
            <a:ext cx="284472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Który element na schemacie odpowiada za podejmowanie decyzji?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585" y="5355431"/>
            <a:ext cx="1317989" cy="406301"/>
          </a:xfrm>
          <a:prstGeom prst="roundRect">
            <a:avLst>
              <a:gd name="adj" fmla="val 49999"/>
            </a:avLst>
          </a:prstGeom>
          <a:solidFill>
            <a:srgbClr val="FDD6CE"/>
          </a:solidFill>
          <a:ln/>
        </p:spPr>
      </p:sp>
      <p:sp>
        <p:nvSpPr>
          <p:cNvPr id="8" name="Text 6"/>
          <p:cNvSpPr/>
          <p:nvPr/>
        </p:nvSpPr>
        <p:spPr>
          <a:xfrm>
            <a:off x="802560" y="5451931"/>
            <a:ext cx="154162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16" kern="100" dirty="0">
                <a:solidFill>
                  <a:srgbClr val="231F4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Zagadka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3" y="1522710"/>
            <a:ext cx="6095848" cy="3812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7004" y="1318304"/>
            <a:ext cx="1255489" cy="211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Mikrokontroler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7004" y="1610467"/>
            <a:ext cx="1255489" cy="566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Czarny procesor, który przechowuje i wykonuje kod.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770751" y="2876845"/>
            <a:ext cx="1255487" cy="422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Piny cyfrowe i analogowe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770751" y="3380336"/>
            <a:ext cx="1255487" cy="566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Gniazda łączące płytkę z czujnikami oraz silnikami.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97004" y="4597945"/>
            <a:ext cx="1255489" cy="211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Złącze USB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97004" y="4890108"/>
            <a:ext cx="1255489" cy="566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Wgrywa program z komputera i przesyła dane.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229354" y="2788580"/>
            <a:ext cx="1255488" cy="422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Gniazdo zasilania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29354" y="3292070"/>
            <a:ext cx="1255488" cy="754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Dostarcza prąd z baterii lub zasilacza ściennego.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063004" cy="406301"/>
          </a:xfrm>
          <a:prstGeom prst="roundRect">
            <a:avLst>
              <a:gd name="adj" fmla="val 49999"/>
            </a:avLst>
          </a:prstGeom>
          <a:solidFill>
            <a:srgbClr val="FDD6CE"/>
          </a:solidFill>
          <a:ln/>
        </p:spPr>
      </p:sp>
      <p:sp>
        <p:nvSpPr>
          <p:cNvPr id="3" name="Text 1"/>
          <p:cNvSpPr/>
          <p:nvPr/>
        </p:nvSpPr>
        <p:spPr>
          <a:xfrm>
            <a:off x="802560" y="706100"/>
            <a:ext cx="228663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16" kern="100" dirty="0">
                <a:solidFill>
                  <a:srgbClr val="231F4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Pierwszy sukces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585" y="1107976"/>
            <a:ext cx="6095848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spc="-30" kern="100" dirty="0">
                <a:solidFill>
                  <a:srgbClr val="231F4F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Pierwszy prototyp: dioda, która słucha programu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585" y="2135882"/>
            <a:ext cx="558786" cy="558800"/>
          </a:xfrm>
          <a:prstGeom prst="ellipse">
            <a:avLst/>
          </a:prstGeom>
          <a:solidFill>
            <a:srgbClr val="F9826A"/>
          </a:solidFill>
          <a:ln/>
        </p:spPr>
      </p:sp>
      <p:sp>
        <p:nvSpPr>
          <p:cNvPr id="6" name="Text 4"/>
          <p:cNvSpPr/>
          <p:nvPr/>
        </p:nvSpPr>
        <p:spPr>
          <a:xfrm>
            <a:off x="827265" y="2262882"/>
            <a:ext cx="7329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46166" y="2237482"/>
            <a:ext cx="535926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Podłącz diodę LED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9585" y="3151882"/>
            <a:ext cx="558786" cy="558800"/>
          </a:xfrm>
          <a:prstGeom prst="ellipse">
            <a:avLst/>
          </a:prstGeom>
          <a:solidFill>
            <a:srgbClr val="F9826A"/>
          </a:solidFill>
          <a:ln/>
        </p:spPr>
      </p:sp>
      <p:sp>
        <p:nvSpPr>
          <p:cNvPr id="9" name="Text 7"/>
          <p:cNvSpPr/>
          <p:nvPr/>
        </p:nvSpPr>
        <p:spPr>
          <a:xfrm>
            <a:off x="813077" y="3278882"/>
            <a:ext cx="7612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46166" y="3253482"/>
            <a:ext cx="535926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Wgraj prosty program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9585" y="4167882"/>
            <a:ext cx="558786" cy="558800"/>
          </a:xfrm>
          <a:prstGeom prst="ellipse">
            <a:avLst/>
          </a:prstGeom>
          <a:solidFill>
            <a:srgbClr val="F9826A"/>
          </a:solidFill>
          <a:ln/>
        </p:spPr>
      </p:sp>
      <p:sp>
        <p:nvSpPr>
          <p:cNvPr id="12" name="Text 10"/>
          <p:cNvSpPr/>
          <p:nvPr/>
        </p:nvSpPr>
        <p:spPr>
          <a:xfrm>
            <a:off x="810299" y="4294882"/>
            <a:ext cx="76694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46166" y="4269482"/>
            <a:ext cx="535926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Zmień czas świecenia i zobacz efekt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9585" y="4910832"/>
            <a:ext cx="609584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Pierwszy sukces powinien być szybki: kod zmienia się w światło.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DDEFF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413" y="457200"/>
            <a:ext cx="4419489" cy="59436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09585" y="2878832"/>
            <a:ext cx="6095848" cy="38100"/>
          </a:xfrm>
          <a:prstGeom prst="rect">
            <a:avLst/>
          </a:prstGeom>
          <a:solidFill>
            <a:srgbClr val="231F4F">
              <a:alpha val="4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09585" y="3894832"/>
            <a:ext cx="6095848" cy="38100"/>
          </a:xfrm>
          <a:prstGeom prst="rect">
            <a:avLst/>
          </a:prstGeom>
          <a:solidFill>
            <a:srgbClr val="231F4F">
              <a:alpha val="4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spc="-30" kern="100" dirty="0">
                <a:solidFill>
                  <a:srgbClr val="231F4F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Czujniki pozwalają projektowi reagować na świat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654572"/>
            <a:ext cx="2514537" cy="3663156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62230" dir="5400000">
              <a:srgbClr val="231f4f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8179" y="1883172"/>
            <a:ext cx="761981" cy="762000"/>
          </a:xfrm>
          <a:prstGeom prst="ellipse">
            <a:avLst/>
          </a:prstGeom>
          <a:solidFill>
            <a:srgbClr val="C0DDE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74" y="2073672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792492"/>
            <a:ext cx="205734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Przycisk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8179" y="3309938"/>
            <a:ext cx="205734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Wykrywa bezpośredni nacisk i dotyk człowieka.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428914" y="1654572"/>
            <a:ext cx="2514537" cy="3663156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62230" dir="5400000">
              <a:srgbClr val="231f4f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509" y="1883172"/>
            <a:ext cx="761981" cy="762000"/>
          </a:xfrm>
          <a:prstGeom prst="ellipse">
            <a:avLst/>
          </a:prstGeom>
          <a:solidFill>
            <a:srgbClr val="C0DDE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004" y="2073672"/>
            <a:ext cx="38099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509" y="2792492"/>
            <a:ext cx="205734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Fotorezystor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657509" y="3309938"/>
            <a:ext cx="2057349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Mierzy natężenie światła i odróżnia dzień od nocy.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48244" y="1654572"/>
            <a:ext cx="2514537" cy="3663156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62230" dir="5400000">
              <a:srgbClr val="231f4f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76838" y="1883172"/>
            <a:ext cx="761981" cy="762000"/>
          </a:xfrm>
          <a:prstGeom prst="ellipse">
            <a:avLst/>
          </a:prstGeom>
          <a:solidFill>
            <a:srgbClr val="C0DD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333" y="2073672"/>
            <a:ext cx="380990" cy="381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76838" y="2792492"/>
            <a:ext cx="2057349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Czujnik odległości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476838" y="3673078"/>
            <a:ext cx="205734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Wysyła ultradźwięki i sprawdza, czy ktoś się zbliża.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67573" y="1654572"/>
            <a:ext cx="2514537" cy="3663156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62230" dir="5400000">
              <a:srgbClr val="231f4f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296167" y="1883172"/>
            <a:ext cx="761981" cy="762000"/>
          </a:xfrm>
          <a:prstGeom prst="ellipse">
            <a:avLst/>
          </a:prstGeom>
          <a:solidFill>
            <a:srgbClr val="C0DDE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63" y="2073672"/>
            <a:ext cx="380990" cy="381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96167" y="2792492"/>
            <a:ext cx="205734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31F4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Termometr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9296167" y="3309938"/>
            <a:ext cx="205734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Śledzi ciepło otoczenia i ostrzega przed upałem.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304792" y="5981779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4B487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Czujnik zamienia zjawisko fizyczne na liczbę, którą rozumie program.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251119" cy="1165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spc="-30" kern="100" dirty="0">
                <a:solidFill>
                  <a:srgbClr val="231F4F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Program to instrukcja dla robota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2006997"/>
            <a:ext cx="3251119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Arduino korzysta z języka opartego na Wiring i darmowego środowiska Arduino IDE. Cały program dzieli się na dwie główne części.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4337447"/>
            <a:ext cx="3251119" cy="1584722"/>
          </a:xfrm>
          <a:prstGeom prst="roundRect">
            <a:avLst>
              <a:gd name="adj" fmla="val 28850"/>
            </a:avLst>
          </a:prstGeom>
          <a:solidFill>
            <a:srgbClr val="FFF0C4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4495562"/>
            <a:ext cx="2844729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setup()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uruchamia się raz po włączeniu zasilania, a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loop()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kręci się w kółko bez końca.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70288" y="0"/>
            <a:ext cx="7721407" cy="6858000"/>
          </a:xfrm>
          <a:prstGeom prst="rect">
            <a:avLst/>
          </a:prstGeom>
          <a:solidFill>
            <a:srgbClr val="DDEFFB"/>
          </a:solidFill>
          <a:ln/>
        </p:spPr>
      </p:sp>
      <p:sp>
        <p:nvSpPr>
          <p:cNvPr id="7" name="Text 5"/>
          <p:cNvSpPr/>
          <p:nvPr/>
        </p:nvSpPr>
        <p:spPr>
          <a:xfrm>
            <a:off x="4673483" y="2476500"/>
            <a:ext cx="15621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000000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1. Ustaw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73483" y="2959100"/>
            <a:ext cx="156216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Przygotuj piny i prędkość komunikacji.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631" y="1841599"/>
            <a:ext cx="3174623" cy="317470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6339" y="3047702"/>
            <a:ext cx="379998" cy="3800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99244" y="977900"/>
            <a:ext cx="168925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000000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2. Sprawdzaj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0299244" y="1460500"/>
            <a:ext cx="1689256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Odczytaj stan czujników w ułamku sekundy.</a:t>
            </a:r>
            <a:endParaRPr lang="en-US" sz="2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631" y="1841599"/>
            <a:ext cx="3174623" cy="3174702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53564" y="2386310"/>
            <a:ext cx="379998" cy="380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99244" y="3619500"/>
            <a:ext cx="168925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000000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3. Reaguj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10299244" y="4102100"/>
            <a:ext cx="1689256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Wykonaj działanie, jeśli warunek jest spełniony.</a:t>
            </a:r>
            <a:endParaRPr lang="en-US" sz="2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631" y="1841599"/>
            <a:ext cx="3174623" cy="3174702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22677" y="4282182"/>
            <a:ext cx="379998" cy="3800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spc="-30" kern="100" dirty="0">
                <a:solidFill>
                  <a:srgbClr val="231F4F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Z jednego eksperymentu powstają prawdziwe projekty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223566"/>
            <a:ext cx="2514537" cy="2514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3877866"/>
            <a:ext cx="251453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Lampka reagująca na zmrok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14" y="1223566"/>
            <a:ext cx="2514537" cy="2514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28914" y="3877866"/>
            <a:ext cx="251453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Alarm: ruch lub otwarcie drzwi</a:t>
            </a:r>
            <a:endParaRPr lang="en-US" sz="2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1223566"/>
            <a:ext cx="2514537" cy="2514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48244" y="3877866"/>
            <a:ext cx="251453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Mini stacja pogodowa</a:t>
            </a:r>
            <a:endParaRPr lang="en-US" sz="20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573" y="1223566"/>
            <a:ext cx="2514537" cy="2514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067573" y="3877866"/>
            <a:ext cx="251453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Robot omijający przeszkody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609585" y="4793536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4B487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Arduino jest używane przez uczniów, hobbystów, artystów i profesjonalistów w bardzo różnych projektach.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DDEFF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1886" y="457200"/>
            <a:ext cx="2568511" cy="406301"/>
          </a:xfrm>
          <a:prstGeom prst="roundRect">
            <a:avLst>
              <a:gd name="adj" fmla="val 49999"/>
            </a:avLst>
          </a:prstGeom>
          <a:solidFill>
            <a:srgbClr val="FDD6CE"/>
          </a:solidFill>
          <a:ln/>
        </p:spPr>
      </p:sp>
      <p:sp>
        <p:nvSpPr>
          <p:cNvPr id="5" name="Text 2"/>
          <p:cNvSpPr/>
          <p:nvPr/>
        </p:nvSpPr>
        <p:spPr>
          <a:xfrm>
            <a:off x="4764861" y="553700"/>
            <a:ext cx="279214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16" kern="100" dirty="0">
                <a:solidFill>
                  <a:srgbClr val="231F4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Zasada konstruktora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1886" y="955576"/>
            <a:ext cx="7111822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spc="-30" kern="100" dirty="0">
                <a:solidFill>
                  <a:srgbClr val="231F4F"/>
                </a:solidFill>
                <a:latin typeface="Grandstander ExtraBold" pitchFamily="34" charset="0"/>
                <a:ea typeface="Grandstander ExtraBold" pitchFamily="34" charset="-122"/>
                <a:cs typeface="Grandstander ExtraBold" pitchFamily="34" charset="-120"/>
              </a:rPr>
              <a:t>Błąd nie kończy projektu — pokazuje następny krok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1886" y="1958082"/>
            <a:ext cx="7111822" cy="159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06400" indent="-40640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Sprawdź połączenia</a:t>
            </a:r>
            <a:endParaRPr lang="en-US" sz="2000" dirty="0"/>
          </a:p>
          <a:p>
            <a:pPr algn="l" marL="406400" indent="-40640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Przeczytaj komunikat i uprość problem</a:t>
            </a:r>
            <a:endParaRPr lang="en-US" sz="2000" dirty="0"/>
          </a:p>
          <a:p>
            <a:pPr algn="l" marL="406400" indent="-40640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Zmień jedną rzecz naraz</a:t>
            </a:r>
            <a:endParaRPr lang="en-US" sz="2000" dirty="0"/>
          </a:p>
          <a:p>
            <a:pPr algn="l" marL="406400" indent="-40640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Przetestuj ponownie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1886" y="3761482"/>
            <a:ext cx="71118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31F4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Najważniejsza umiejętność konstruktora to ciekawość i wytrwałość, nie perfekcyjny start.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2026-10-19T15:48:22Z</dcterms:created>
  <dcterms:modified xsi:type="dcterms:W3CDTF">2026-10-19T15:48:22Z</dcterms:modified>
</cp:coreProperties>
</file>